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프로젝트 개요 (권장 2분)】
● 문제 정의 (30초)
  '왜 이 프로젝트를 했는가'를 비즈니스 임팩트와 함께 간결하게 설명하세요.
● 핵심 기능 (45초)
  Agent 구성 흐름과 핵심 기술 스택을 한눈에 보이도록 서술하세요.
● 핵심 성과 (30초)
  실제 측정된 수치로 채우세요. 추정치는 '~' 를 붙이세요.
● Key Message (15초)
  심사위원이 하나만 기억한다면 이 문장이어야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기술 아키텍처 (권장 4분)】
● 다이어그램 (2분)
  - 시스템 전체 흐름이 한눈에 보여야 합니다
  - 사용자 입력 → 처리 → 결과 흐름을 화살표로 표시하세요
  - 컴포넌트 이름은 실제 기술명 사용 (예: LangGraph, Pinecone, GPT-4)
● 기술 선택 이유 (2분)
  - 심사위원은 LangGraph, LangChain을 '기본'으로 간주합니다
  - '기본입니다'가 아닌, 왜 이 기술이 필요했는지를 설명하세요
  - MCP, ToT, Self-Correction 등 고급 기술 사용 시 그 이유를 명확히 하세요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핵심 기술 과제 (권장 4분)】
● 핵심 기술 난제 (1분)
  - '왜 단순 구현으로 안 되는가'를 먼저 설명하세요
  - 심사위원은 단순 RAG / ReAct를 기본으로 봅니다. 그 한계를 명확히 제시하세요
● 엔지니어링 접근 (2분)
  - Agent의 '생각(로그)'이 고수준임을 증명해야 합니다
  - 시연 시 단순 Tool Call이 아닌 Planning / Self-Correction 로그를 보여주세요
  - 참고 논문 / 기술이 있다면 언급하면 고득점 포인트가 됩니다
● 결과 (1분)
  - 반드시 수치로 증명하세요
  - 직접 측정이 어려운 경우 '이전 대비' 상대 수치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과제명  Data Access Copilot — 자연어 기반 임상데이터 NL2SQL 에이전트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티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[성명], [사번]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토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[성명1], [성명2]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상황(As-Is) 및 목표 사용자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SQL·스키마를 모르는 도메인 전문가(1차: 임상연구자 / 2차: 데이터관리팀)가 매번 데이터팀에 요청→수일 대기→재요청을 반복 — 스키마를 아는 사람과 데이터가 필요한 사람이 분리된 조직이면 어디서든 반복되는 구조적 병목입니다.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지금 가능한가 + 프로젝트 목표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스키마 grounding·self-correction으로 SQL 변환 신뢰도가 실용 수준에 도달 — ① 데이터 접근 셀프서비스화 ② 검증 계층 기반 신뢰 가능한 의사결정 지원 ③ 재사용 가능한 에이전트 아키텍처 확보를 목표로 합니다.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만들었는가?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질문을 SQL로 변환·검증·실행하는 LangGraph 기반 NL2SQL 에이전트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b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의도분류·모델라우팅 → 스키마링킹(Hybrid RAG) → SQL생성·자기수정 → Rule 기반 검증(AST·값anchoring) → HITL·멀티턴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/ Qdrant / PostgreSQL / sqlglot / psycopg2 / gpt-4.1-mini·gpt-5 라우팅 / gpt-4o-mini(Judge)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실패 SQL의 실행 도달률 — 3중 검증 게이트로 구조적 차단(안전성)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63.2%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실행 정확도 (Golden Set 24/38 · baseline 47.4%→63.2%)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요약 충실도 (32/36, LLM-judge 기준)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"3중 검증 게이트로 미검증 SQL의 실행을 원천 차단하면서,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RAG로 SQL 실행 정확도를 baseline 대비 15.8%p 개선했습니다."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0" name="Text 8"/>
          <p:cNvSpPr/>
          <p:nvPr/>
        </p:nvSpPr>
        <p:spPr>
          <a:xfrm>
            <a:off x="296032" y="707512"/>
            <a:ext cx="453772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 다이어그램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선택 이유 (3가지)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000" dirty="0"/>
          </a:p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기술을 선택했고, 어떻게 활용했는지 설명합니다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3중 검증 게이트 (Schema Citation + Value Anchor + SqlValidator/AST)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존재하지 않는 컬럼을 인용(환각)하거나 실제 존재하지 않는 값으로 WHERE절을 구성할 위험이 있어, 생성만으로는 안전을 보장할 수 없었습니다.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게이트를 모두 통과해야만 실행 노드로 연결되도록 그래프 엣지를 설계, 실패 시 자동 재시도 또는 사람 승인(sql_review)으로 복귀시킵니다.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Dense + Sparse(BM25) Hybrid RAG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임베딩만으로는 exam_cd·ADT001 같은 정확한 코드성 식별자를 놓쳐, 필요한 테이블이 후보에서 누락되는 근본적 한계가 있었습니다.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RRF(Reciprocal Rank Fusion)로 dense+sparse 결합 → Execution Accuracy 44.7%→63.2%(+18.5pp), 스키마 매핑 recall 92.1%→98.2%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Interrupt/Resume HITL + MCP 6-Tool 노출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스키마 확정과 SQL 승인, 두 지점에서 사람이 실제로 멈춰 개입해야 하는 요구사항은 단방향 Chain 구조로 표현할 수 없었습니다.</a:t>
            </a:r>
            <a:endParaRPr lang="en-US" sz="850" dirty="0"/>
          </a:p>
          <a:p>
            <a:pPr marL="0" indent="0">
              <a:buNone/>
            </a:pP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PostgresSaver로 interrupt 상태를 Postgres에 영속화(재시작에도 재개 가능), 읽기·검증게이트 통과 전용 6개 tool을 MCP로 외부 노출</a:t>
            </a:r>
            <a:endParaRPr lang="en-US" sz="850" dirty="0"/>
          </a:p>
        </p:txBody>
      </p:sp>
      <p:sp>
        <p:nvSpPr>
          <p:cNvPr id="30" name="TextBox 29"/>
          <p:cNvSpPr txBox="1"/>
          <p:nvPr/>
        </p:nvSpPr>
        <p:spPr>
          <a:xfrm>
            <a:off x="296032" y="967512"/>
            <a:ext cx="4537720" cy="1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1">
                <a:solidFill>
                  <a:srgbClr val="1A365D"/>
                </a:solidFill>
                <a:latin typeface="Malgun Gothic"/>
              </a:rPr>
              <a:t>① 사용자 계층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4892" y="1082512"/>
            <a:ext cx="1750000" cy="2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70" b="1">
                <a:solidFill>
                  <a:srgbClr val="1A365D"/>
                </a:solidFill>
                <a:latin typeface="Malgun Gothic"/>
              </a:rPr>
              <a:t>임상연구자
(SQL 비전문가)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34892" y="1082512"/>
            <a:ext cx="1750000" cy="28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70" b="1">
                <a:solidFill>
                  <a:srgbClr val="1A365D"/>
                </a:solidFill>
                <a:latin typeface="Malgun Gothic"/>
              </a:rPr>
              <a:t>데이터관리팀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6032" y="1432512"/>
            <a:ext cx="4537720" cy="1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1">
                <a:solidFill>
                  <a:srgbClr val="1A365D"/>
                </a:solidFill>
                <a:latin typeface="Malgun Gothic"/>
              </a:rPr>
              <a:t>② 프리젠테이션 계층 (React/Vite)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6032" y="1547512"/>
            <a:ext cx="1452573" cy="310000"/>
          </a:xfrm>
          <a:prstGeom prst="roundRect">
            <a:avLst/>
          </a:prstGeom>
          <a:solidFill>
            <a:srgbClr val="EAF2FF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1A365D"/>
                </a:solidFill>
                <a:latin typeface="Malgun Gothic"/>
              </a:rPr>
              <a:t>질의 실행
(StageRail)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38605" y="1547512"/>
            <a:ext cx="1452573" cy="310000"/>
          </a:xfrm>
          <a:prstGeom prst="roundRect">
            <a:avLst/>
          </a:prstGeom>
          <a:solidFill>
            <a:srgbClr val="EAF2FF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1A365D"/>
                </a:solidFill>
                <a:latin typeface="Malgun Gothic"/>
              </a:rPr>
              <a:t>실행 히스토리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1178" y="1547512"/>
            <a:ext cx="1452573" cy="310000"/>
          </a:xfrm>
          <a:prstGeom prst="roundRect">
            <a:avLst/>
          </a:prstGeom>
          <a:solidFill>
            <a:srgbClr val="EAF2FF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60" b="1">
                <a:solidFill>
                  <a:srgbClr val="1A365D"/>
                </a:solidFill>
                <a:latin typeface="Malgun Gothic"/>
              </a:rPr>
              <a:t>도메인 관리
(스키마·노트)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6032" y="1927512"/>
            <a:ext cx="4537720" cy="1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1">
                <a:solidFill>
                  <a:srgbClr val="1A365D"/>
                </a:solidFill>
                <a:latin typeface="Malgun Gothic"/>
              </a:rPr>
              <a:t>③ 오케스트레이션 계층 (LangGraph — 노드 단위)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6032" y="2042512"/>
            <a:ext cx="612245" cy="480000"/>
          </a:xfrm>
          <a:prstGeom prst="roundRect">
            <a:avLst/>
          </a:prstGeom>
          <a:solidFill>
            <a:srgbClr val="F0FDFB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1A365D"/>
                </a:solidFill>
                <a:latin typeface="Malgun Gothic"/>
              </a:rPr>
              <a:t>의도 분류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277" y="2042512"/>
            <a:ext cx="612245" cy="480000"/>
          </a:xfrm>
          <a:prstGeom prst="roundRect">
            <a:avLst/>
          </a:prstGeom>
          <a:solidFill>
            <a:srgbClr val="F0FDFB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1A365D"/>
                </a:solidFill>
                <a:latin typeface="Malgun Gothic"/>
              </a:rPr>
              <a:t>스키마 검색
(Hybrid RAG)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04523" y="2042512"/>
            <a:ext cx="612245" cy="480000"/>
          </a:xfrm>
          <a:prstGeom prst="roundRect">
            <a:avLst/>
          </a:prstGeom>
          <a:solidFill>
            <a:srgbClr val="FFF6E2"/>
          </a:solidFill>
          <a:ln w="11430">
            <a:solidFill>
              <a:srgbClr val="B8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B87A1A"/>
                </a:solidFill>
                <a:latin typeface="Malgun Gothic"/>
              </a:rPr>
              <a:t>스키마 검토
[HITL]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58769" y="2042512"/>
            <a:ext cx="612245" cy="480000"/>
          </a:xfrm>
          <a:prstGeom prst="roundRect">
            <a:avLst/>
          </a:prstGeom>
          <a:solidFill>
            <a:srgbClr val="F0FDFB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1A365D"/>
                </a:solidFill>
                <a:latin typeface="Malgun Gothic"/>
              </a:rPr>
              <a:t>SQL 생성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13014" y="2042512"/>
            <a:ext cx="612245" cy="480000"/>
          </a:xfrm>
          <a:prstGeom prst="roundRect">
            <a:avLst/>
          </a:prstGeom>
          <a:solidFill>
            <a:srgbClr val="FFF6E2"/>
          </a:solidFill>
          <a:ln w="11430">
            <a:solidFill>
              <a:srgbClr val="B8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B87A1A"/>
                </a:solidFill>
                <a:latin typeface="Malgun Gothic"/>
              </a:rPr>
              <a:t>SQL 검토
[HITL]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67260" y="2042512"/>
            <a:ext cx="612245" cy="480000"/>
          </a:xfrm>
          <a:prstGeom prst="roundRect">
            <a:avLst/>
          </a:prstGeom>
          <a:solidFill>
            <a:srgbClr val="F0FDFB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1A365D"/>
                </a:solidFill>
                <a:latin typeface="Malgun Gothic"/>
              </a:rPr>
              <a:t>3중 검증
게이트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21506" y="2042512"/>
            <a:ext cx="612245" cy="480000"/>
          </a:xfrm>
          <a:prstGeom prst="roundRect">
            <a:avLst/>
          </a:prstGeom>
          <a:solidFill>
            <a:srgbClr val="F0FDFB"/>
          </a:solidFill>
          <a:ln w="11430">
            <a:solidFill>
              <a:srgbClr val="1A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1A365D"/>
                </a:solidFill>
                <a:latin typeface="Malgun Gothic"/>
              </a:rPr>
              <a:t>실행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8277" y="2282512"/>
            <a:ext cx="42000" cy="0"/>
          </a:xfrm>
          <a:prstGeom prst="line">
            <a:avLst/>
          </a:prstGeom>
          <a:ln w="12700">
            <a:solidFill>
              <a:srgbClr val="1A36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562523" y="2282512"/>
            <a:ext cx="42000" cy="0"/>
          </a:xfrm>
          <a:prstGeom prst="line">
            <a:avLst/>
          </a:prstGeom>
          <a:ln w="12700">
            <a:solidFill>
              <a:srgbClr val="1A36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16769" y="2282512"/>
            <a:ext cx="42000" cy="0"/>
          </a:xfrm>
          <a:prstGeom prst="line">
            <a:avLst/>
          </a:prstGeom>
          <a:ln w="12700">
            <a:solidFill>
              <a:srgbClr val="1A36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71014" y="2282512"/>
            <a:ext cx="42000" cy="0"/>
          </a:xfrm>
          <a:prstGeom prst="line">
            <a:avLst/>
          </a:prstGeom>
          <a:ln w="12700">
            <a:solidFill>
              <a:srgbClr val="1A36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525260" y="2282512"/>
            <a:ext cx="42000" cy="0"/>
          </a:xfrm>
          <a:prstGeom prst="line">
            <a:avLst/>
          </a:prstGeom>
          <a:ln w="12700">
            <a:solidFill>
              <a:srgbClr val="1A36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179506" y="2282512"/>
            <a:ext cx="42000" cy="0"/>
          </a:xfrm>
          <a:prstGeom prst="line">
            <a:avLst/>
          </a:prstGeom>
          <a:ln w="12700">
            <a:solidFill>
              <a:srgbClr val="1A36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96032" y="2612512"/>
            <a:ext cx="4537720" cy="1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1">
                <a:solidFill>
                  <a:srgbClr val="1A365D"/>
                </a:solidFill>
                <a:latin typeface="Malgun Gothic"/>
              </a:rPr>
              <a:t>④ AI LLM 엔진 계층 (Azure OpenAI Gateway)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6032" y="2742512"/>
            <a:ext cx="1465906" cy="300000"/>
          </a:xfrm>
          <a:prstGeom prst="roundRect">
            <a:avLst/>
          </a:prstGeom>
          <a:solidFill>
            <a:srgbClr val="FFF6E2"/>
          </a:solidFill>
          <a:ln w="11430">
            <a:solidFill>
              <a:srgbClr val="B8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B87A1A"/>
                </a:solidFill>
                <a:latin typeface="Malgun Gothic"/>
              </a:rPr>
              <a:t>gpt-4.1-mini / gpt-5
(난이도별 SQL 생성)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31938" y="2742512"/>
            <a:ext cx="1465906" cy="300000"/>
          </a:xfrm>
          <a:prstGeom prst="roundRect">
            <a:avLst/>
          </a:prstGeom>
          <a:solidFill>
            <a:srgbClr val="FFF6E2"/>
          </a:solidFill>
          <a:ln w="11430">
            <a:solidFill>
              <a:srgbClr val="B8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B87A1A"/>
                </a:solidFill>
                <a:latin typeface="Malgun Gothic"/>
              </a:rPr>
              <a:t>text-embedding-3-small
(스키마·질문 임베딩)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67845" y="2742512"/>
            <a:ext cx="1465906" cy="300000"/>
          </a:xfrm>
          <a:prstGeom prst="roundRect">
            <a:avLst/>
          </a:prstGeom>
          <a:solidFill>
            <a:srgbClr val="FFF6E2"/>
          </a:solidFill>
          <a:ln w="11430">
            <a:solidFill>
              <a:srgbClr val="B8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B87A1A"/>
                </a:solidFill>
                <a:latin typeface="Malgun Gothic"/>
              </a:rPr>
              <a:t>gpt-4o-mini
(Eval Judge)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6032" y="3112512"/>
            <a:ext cx="4537720" cy="1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" b="1">
                <a:solidFill>
                  <a:srgbClr val="1A365D"/>
                </a:solidFill>
                <a:latin typeface="Malgun Gothic"/>
              </a:rPr>
              <a:t>⑤ 데이터 계층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6032" y="3227512"/>
            <a:ext cx="1452573" cy="310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2E7D32"/>
                </a:solidFill>
                <a:latin typeface="Malgun Gothic"/>
              </a:rPr>
              <a:t>Qdrant
Dense+Sparse Hybrid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38605" y="3227512"/>
            <a:ext cx="1452573" cy="310000"/>
          </a:xfrm>
          <a:prstGeom prst="roundRect">
            <a:avLst/>
          </a:prstGeom>
          <a:solidFill>
            <a:srgbClr val="F2F2F2"/>
          </a:solidFill>
          <a:ln w="1143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4A4A4A"/>
                </a:solidFill>
                <a:latin typeface="Malgun Gothic"/>
              </a:rPr>
              <a:t>Target PostgreSQL
(Domain DB)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381178" y="3227512"/>
            <a:ext cx="1452573" cy="310000"/>
          </a:xfrm>
          <a:prstGeom prst="roundRect">
            <a:avLst/>
          </a:prstGeom>
          <a:solidFill>
            <a:srgbClr val="F2F2F2"/>
          </a:solidFill>
          <a:ln w="1143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1">
                <a:solidFill>
                  <a:srgbClr val="4A4A4A"/>
                </a:solidFill>
                <a:latin typeface="Malgun Gothic"/>
              </a:rPr>
              <a:t>app-db
(PostgresSaver·runs)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6032" y="3612512"/>
            <a:ext cx="4537720" cy="260000"/>
          </a:xfrm>
          <a:prstGeom prst="roundRect">
            <a:avLst/>
          </a:prstGeom>
          <a:solidFill>
            <a:srgbClr val="ECECEC"/>
          </a:solidFill>
          <a:ln w="1143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>
              <a:lnSpc>
                <a:spcPct val="100000"/>
              </a:lnSpc>
            </a:pPr>
            <a:r>
              <a:rPr sz="640" b="0">
                <a:solidFill>
                  <a:srgbClr val="4A4A4A"/>
                </a:solidFill>
                <a:latin typeface="Malgun Gothic"/>
              </a:rPr>
              <a:t>Observability — token_usage / run_metrics (노드·모델별 토큰) · GET /runs/{id}/trace (재시도·다음노드 이력)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1022318" y="1362512"/>
            <a:ext cx="1542574" cy="185000"/>
          </a:xfrm>
          <a:prstGeom prst="line">
            <a:avLst/>
          </a:prstGeom>
          <a:ln w="11430">
            <a:solidFill>
              <a:srgbClr val="1A365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02154" y="1857512"/>
            <a:ext cx="420164" cy="185000"/>
          </a:xfrm>
          <a:prstGeom prst="line">
            <a:avLst/>
          </a:prstGeom>
          <a:ln w="11430">
            <a:solidFill>
              <a:srgbClr val="1A365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1385462" y="1857512"/>
            <a:ext cx="525184" cy="185000"/>
          </a:xfrm>
          <a:prstGeom prst="line">
            <a:avLst/>
          </a:prstGeom>
          <a:ln w="11430">
            <a:solidFill>
              <a:srgbClr val="B87A1A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1821234" y="1857512"/>
            <a:ext cx="1397903" cy="185000"/>
          </a:xfrm>
          <a:prstGeom prst="line">
            <a:avLst/>
          </a:prstGeom>
          <a:ln w="11430">
            <a:solidFill>
              <a:srgbClr val="B87A1A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022318" y="2522512"/>
            <a:ext cx="234082" cy="525000"/>
          </a:xfrm>
          <a:prstGeom prst="line">
            <a:avLst/>
          </a:prstGeom>
          <a:ln w="11430">
            <a:solidFill>
              <a:srgbClr val="2E7D32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530719" y="2522512"/>
            <a:ext cx="1034173" cy="525000"/>
          </a:xfrm>
          <a:prstGeom prst="line">
            <a:avLst/>
          </a:prstGeom>
          <a:ln w="11430">
            <a:solidFill>
              <a:srgbClr val="2E7D32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2564892" y="2522512"/>
            <a:ext cx="1962737" cy="525000"/>
          </a:xfrm>
          <a:prstGeom prst="line">
            <a:avLst/>
          </a:prstGeom>
          <a:ln w="11430">
            <a:solidFill>
              <a:srgbClr val="7A7A7A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602154" y="2522512"/>
            <a:ext cx="426831" cy="220000"/>
          </a:xfrm>
          <a:prstGeom prst="line">
            <a:avLst/>
          </a:prstGeom>
          <a:ln w="11430">
            <a:solidFill>
              <a:srgbClr val="B87A1A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1468757" y="2522512"/>
            <a:ext cx="1096135" cy="220000"/>
          </a:xfrm>
          <a:prstGeom prst="line">
            <a:avLst/>
          </a:prstGeom>
          <a:ln w="11430">
            <a:solidFill>
              <a:srgbClr val="B87A1A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256400" y="2522512"/>
            <a:ext cx="1308492" cy="220000"/>
          </a:xfrm>
          <a:prstGeom prst="line">
            <a:avLst/>
          </a:prstGeom>
          <a:ln w="11430">
            <a:solidFill>
              <a:srgbClr val="B87A1A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219137" y="2522512"/>
            <a:ext cx="888328" cy="525000"/>
          </a:xfrm>
          <a:prstGeom prst="line">
            <a:avLst/>
          </a:prstGeom>
          <a:ln w="11430">
            <a:solidFill>
              <a:srgbClr val="7A7A7A"/>
            </a:solidFill>
            <a:prstDash val="dash"/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107465" y="3537512"/>
            <a:ext cx="0" cy="75000"/>
          </a:xfrm>
          <a:prstGeom prst="line">
            <a:avLst/>
          </a:prstGeom>
          <a:ln w="11430">
            <a:solidFill>
              <a:srgbClr val="4A4A4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스키마가 큰 테이블일수록 컬럼 전체를 프롬프트에 그대로 넣으면 토큰이 폭증했고, 대리지표(스키마 매핑 F1)만 보고 재선정 로직을 채택했다가 진짜 지표(Execution Accuracy)가 오히려 하락한 시행착오도 있었습니다(EXP-005: F1 +25.5pp에도 정확도 -5.3pp).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인프라도 비효율적이었습니다 — Golden Set 하나를 평가하려면 정확도·스키마매핑·요약충실도용으로 LLM을 3번 따로 호출해야 했습니다.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해결했는가? (설계 결정)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컬럼을 key(PK/FK)·relevant(임베딩 유사도 상위)·other(이름만 압축) 3단으로 티어링해 프롬프트에 주입(EXP-007) — 이후 모든 실험은 대리지표가 아닌 Execution Accuracy 유지 여부를 채택 기준으로 고정했습니다.</a:t>
            </a:r>
            <a:endParaRPr lang="en-US" sz="9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알고리즘 / 아키텍처 결정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러너를 통합해 질문당 graph.invoke() 1회로 정확도·스키마매핑·요약충실도를 동시 계산 — Golden Set당 LLM 호출 3회→1회로 감소. Schema Citation·Value Anchor·SQL AST(sqlglot) 검증은 별도 Rule 계층으로 분리해 결정론적으로 게이트했습니다.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생성 결과를 그대로 신뢰하면 표면 어휘 유사도에 낚여 대리지표만 개선되고 진짜 지표는 하락하는 사례(EXP-005)가 실제로 있었기 때문입니다.</a:t>
            </a:r>
            <a:endParaRPr lang="en-US" sz="9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-19.0%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토큰 사용량 (EXP-007)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컬럼 티어링 적용, Execution Accuracy 유지(36.8%→36.8%)</a:t>
              </a:r>
              <a:endParaRPr lang="en-US" sz="8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8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+26.1%</a:t>
              </a:r>
              <a:endParaRPr lang="en-US" sz="1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지연시간 (Trade-off)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정확도·토큰 개선과 함께 숨기지 않고 정직하게 기록</a:t>
              </a:r>
              <a:endParaRPr lang="en-US" sz="8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1/3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Set 평가 LLM 호출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eval 러너 통합 — 3회→1회로 감소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928</Words>
  <Application>Microsoft Macintosh PowerPoint</Application>
  <PresentationFormat>화면 슬라이드 쇼(16:9)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07457</cp:lastModifiedBy>
  <cp:revision>4</cp:revision>
  <dcterms:created xsi:type="dcterms:W3CDTF">2026-03-16T07:29:48Z</dcterms:created>
  <dcterms:modified xsi:type="dcterms:W3CDTF">2026-03-16T08:12:05Z</dcterms:modified>
</cp:coreProperties>
</file>